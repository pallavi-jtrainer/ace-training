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1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4168973"/>
            <a:ext cx="10668000" cy="666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2060227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90600" y="2060227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219200" y="2060227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447800" y="2060227"/>
            <a:ext cx="114300" cy="114300"/>
          </a:xfrm>
          <a:prstGeom prst="roundRect">
            <a:avLst>
              <a:gd name="adj" fmla="val 50000"/>
            </a:avLst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2000" y="4168973"/>
            <a:ext cx="1066800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43400" y="4445198"/>
            <a:ext cx="9525" cy="390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2000" y="2441227"/>
            <a:ext cx="11251406" cy="56956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b="1" sz="3900" i="0" u="none">
                <a:solidFill>
                  <a:srgbClr val="FFFFFF"/>
                </a:solidFill>
                <a:latin typeface="Inter"/>
              </a:rPr>
              <a:t>Google Cloud Fundamentals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3201292"/>
            <a:ext cx="7715250" cy="586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b="0" sz="1650" i="0" u="none">
                <a:solidFill>
                  <a:srgbClr val="CBD5E1"/>
                </a:solidFill>
                <a:latin typeface="Inter"/>
              </a:rPr>
              <a:t>Architecting enterprise workloads with Virtual Private Cloud (VPC) networks and Compute Engine Virtual Machines.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52600" y="2022127"/>
            <a:ext cx="4518421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94A3B8"/>
                </a:solidFill>
                <a:latin typeface="Inter"/>
              </a:rPr>
              <a:t>GOOGLE CLOUD TECHNICAL ESSENTIALS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4445198"/>
            <a:ext cx="40957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Inter"/>
              </a:rPr>
              <a:t>FOCUS AREAS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000" y="4645223"/>
            <a:ext cx="40957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8FAFC"/>
                </a:solidFill>
                <a:latin typeface="Inter"/>
              </a:rPr>
              <a:t>Resource Hierarchy • VPC • Compute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7725" y="4445198"/>
            <a:ext cx="29527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94A3B8"/>
                </a:solidFill>
                <a:latin typeface="Inter"/>
              </a:rPr>
              <a:t>CERTIFICATION PATH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57725" y="4645223"/>
            <a:ext cx="29527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Inter"/>
              </a:rPr>
              <a:t>Associate Cloud Engineer (ACE)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467350"/>
            <a:ext cx="10972800" cy="666750"/>
          </a:xfrm>
          <a:prstGeom prst="roundRect">
            <a:avLst>
              <a:gd name="adj" fmla="val 11428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571750"/>
            <a:ext cx="2600325" cy="1657350"/>
          </a:xfrm>
          <a:prstGeom prst="roundRect">
            <a:avLst>
              <a:gd name="adj" fmla="val 459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400425" y="2571750"/>
            <a:ext cx="2600325" cy="1657350"/>
          </a:xfrm>
          <a:prstGeom prst="roundRect">
            <a:avLst>
              <a:gd name="adj" fmla="val 459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91250" y="2571750"/>
            <a:ext cx="2600325" cy="1657350"/>
          </a:xfrm>
          <a:prstGeom prst="roundRect">
            <a:avLst>
              <a:gd name="adj" fmla="val 459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82075" y="2571750"/>
            <a:ext cx="2600325" cy="1657350"/>
          </a:xfrm>
          <a:prstGeom prst="roundRect">
            <a:avLst>
              <a:gd name="adj" fmla="val 4597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2571750"/>
            <a:ext cx="2600325" cy="3810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00425" y="2571750"/>
            <a:ext cx="2600325" cy="3810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91250" y="2571750"/>
            <a:ext cx="2600325" cy="38100"/>
          </a:xfrm>
          <a:prstGeom prst="rect">
            <a:avLst/>
          </a:prstGeom>
          <a:solidFill>
            <a:srgbClr val="FBBC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82075" y="2571750"/>
            <a:ext cx="2600325" cy="381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5705475"/>
            <a:ext cx="190500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6262687"/>
            <a:ext cx="152400" cy="1238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2876550"/>
            <a:ext cx="2219325" cy="2286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0925" y="2876550"/>
            <a:ext cx="2219325" cy="2286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1750" y="2876550"/>
            <a:ext cx="2219325" cy="2286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72575" y="2876550"/>
            <a:ext cx="2219325" cy="2286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33800" y="6286500"/>
            <a:ext cx="104775" cy="10477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A73E8"/>
                </a:solidFill>
                <a:latin typeface="Inter"/>
              </a:rPr>
              <a:t>GCP FOUNDATIONS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600" y="6953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Google Cloud Resource Hierarchy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1143000"/>
            <a:ext cx="11582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The structured framework for access control, IAM inheritance, and billing isolation.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1100" y="5619750"/>
            <a:ext cx="102679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E40AF"/>
                </a:solidFill>
                <a:latin typeface="Inter"/>
              </a:rPr>
              <a:t>ACE Exam Key Principle:</a:t>
            </a:r>
            <a:r>
              <a:rPr b="0" sz="1125" i="0" u="none">
                <a:solidFill>
                  <a:srgbClr val="1E40AF"/>
                </a:solidFill>
                <a:latin typeface="Inter"/>
              </a:rPr>
              <a:t> Policy inheritance flows downward (Org → Folder → Project → Resource). Key IAM Roles: </a:t>
            </a:r>
            <a:r>
              <a:rPr b="0" sz="1125" i="0" u="none">
                <a:solidFill>
                  <a:srgbClr val="1E40AF"/>
                </a:solidFill>
                <a:latin typeface="Inter"/>
              </a:rPr>
              <a:t>roles/resourcemanager.organizationAdmin</a:t>
            </a:r>
            <a:r>
              <a:rPr b="0" sz="1125" i="0" u="none">
                <a:solidFill>
                  <a:srgbClr val="1E40AF"/>
                </a:solidFill>
                <a:latin typeface="Inter"/>
              </a:rPr>
              <a:t>, </a:t>
            </a:r>
            <a:r>
              <a:rPr b="0" sz="1125" i="0" u="none">
                <a:solidFill>
                  <a:srgbClr val="1E40AF"/>
                </a:solidFill>
                <a:latin typeface="Inter"/>
              </a:rPr>
              <a:t>roles/folderAdmin</a:t>
            </a:r>
            <a:r>
              <a:rPr b="0" sz="1125" i="0" u="none">
                <a:solidFill>
                  <a:srgbClr val="1E40AF"/>
                </a:solidFill>
                <a:latin typeface="Inter"/>
              </a:rPr>
              <a:t>, </a:t>
            </a:r>
            <a:r>
              <a:rPr b="0" sz="1125" i="0" u="none">
                <a:solidFill>
                  <a:srgbClr val="1E40AF"/>
                </a:solidFill>
                <a:latin typeface="Inter"/>
              </a:rPr>
              <a:t>roles/owner</a:t>
            </a:r>
            <a:r>
              <a:rPr b="0" sz="1125" i="0" u="none">
                <a:solidFill>
                  <a:srgbClr val="1E40AF"/>
                </a:solidFill>
                <a:latin typeface="Inter"/>
              </a:rPr>
              <a:t>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200" y="6248400"/>
            <a:ext cx="12096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64748B"/>
                </a:solidFill>
                <a:latin typeface="Inter"/>
              </a:rPr>
              <a:t>Documentation: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38325" y="6248400"/>
            <a:ext cx="2500312" cy="152400"/>
          </a:xfrm>
          <a:prstGeom prst="rect">
            <a:avLst/>
          </a:prstGeom>
          <a:noFill/>
        </p:spPr>
        <p:txBody>
          <a:bodyPr wrap="none" lIns="104775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A73E8"/>
                </a:solidFill>
                <a:latin typeface="Inter"/>
              </a:rPr>
              <a:t>GCP Resource Hierarchy Guide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" y="3257550"/>
            <a:ext cx="2912864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Organization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" y="3562350"/>
            <a:ext cx="231457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Root node for domain policy management.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90925" y="3257550"/>
            <a:ext cx="2912864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Folders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90925" y="3562350"/>
            <a:ext cx="231457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Departmental or environment grouping.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81750" y="3257550"/>
            <a:ext cx="2912864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Projects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81750" y="3562350"/>
            <a:ext cx="231457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Billing anchor and service enablements.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72575" y="3257550"/>
            <a:ext cx="2912864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Resources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72575" y="3562350"/>
            <a:ext cx="2314575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Compute instances, VPCs, and storage.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2476500"/>
            <a:ext cx="5295900" cy="8001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467100"/>
            <a:ext cx="5295900" cy="8001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4457700"/>
            <a:ext cx="5295900" cy="8001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2476500"/>
            <a:ext cx="38100" cy="8001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3467100"/>
            <a:ext cx="38100" cy="8001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9600" y="4457700"/>
            <a:ext cx="38100" cy="80010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0" y="2343150"/>
            <a:ext cx="5295900" cy="3048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A73E8"/>
                </a:solidFill>
                <a:latin typeface="Inter"/>
              </a:rPr>
              <a:t>GLOBAL BACKBONE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6953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Regions, Zones &amp; Fiber Infrastructure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1143000"/>
            <a:ext cx="11582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Google operates a private subsea fiber network linking worldwide compute nodes.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2667000"/>
            <a:ext cx="64008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Regions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2905125"/>
            <a:ext cx="60960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Independent geographic areas hosting datacenter clusters.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3657600"/>
            <a:ext cx="64008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Availability Zones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200" y="3895725"/>
            <a:ext cx="60960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Isolated fault domains connected via ultra-low latency fiber.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4648200"/>
            <a:ext cx="64008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Cold-Potato Routing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4886325"/>
            <a:ext cx="60960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Traffic enters Google's private network at the nearest edge point.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76550"/>
            <a:ext cx="5372100" cy="1981200"/>
          </a:xfrm>
          <a:prstGeom prst="roundRect">
            <a:avLst>
              <a:gd name="adj" fmla="val 576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2876550"/>
            <a:ext cx="5372100" cy="1981200"/>
          </a:xfrm>
          <a:prstGeom prst="roundRect">
            <a:avLst>
              <a:gd name="adj" fmla="val 576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200400"/>
            <a:ext cx="228600" cy="228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625" y="3200400"/>
            <a:ext cx="285750" cy="228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925" y="3609975"/>
            <a:ext cx="123825" cy="1428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925" y="3995737"/>
            <a:ext cx="123825" cy="1428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925" y="4381500"/>
            <a:ext cx="123825" cy="1428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4625" y="3609975"/>
            <a:ext cx="123825" cy="1428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4625" y="3905250"/>
            <a:ext cx="123825" cy="1428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4625" y="4291012"/>
            <a:ext cx="123825" cy="1428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A73E8"/>
                </a:solidFill>
                <a:latin typeface="Inter"/>
              </a:rPr>
              <a:t>VPC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953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Global VPC Networks vs. Regional Subnets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1143000"/>
            <a:ext cx="11582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Google Cloud VPC is global by design, eliminating complex cross-region peering.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66825" y="3190875"/>
            <a:ext cx="2425303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Global VPC Scope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3950" y="3590925"/>
            <a:ext cx="5729287" cy="1809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Inter"/>
              </a:rPr>
              <a:t>Spans all global regions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within a single project natively.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3950" y="3886200"/>
            <a:ext cx="4638675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Inter"/>
              </a:rPr>
              <a:t>No transit gateways needed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for cross-region VM communication.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3950" y="4362450"/>
            <a:ext cx="5729287" cy="1809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Inter"/>
              </a:rPr>
              <a:t>Global internal routing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out-of-the-box.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24675" y="3190875"/>
            <a:ext cx="3262907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Regional Subnet Ranges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4650" y="3590925"/>
            <a:ext cx="5467350" cy="1809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Inter"/>
              </a:rPr>
              <a:t>Subnets are regional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and bound to specific locations.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4650" y="3886200"/>
            <a:ext cx="5467350" cy="18097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Inter"/>
              </a:rPr>
              <a:t>Dynamic IP Expansion: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Expand CIDR ranges without downtime.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4650" y="4181475"/>
            <a:ext cx="4638675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Inter"/>
              </a:rPr>
              <a:t>Custom Mode VPCs:</a:t>
            </a:r>
            <a:r>
              <a:rPr b="0" sz="1125" i="0" u="none">
                <a:solidFill>
                  <a:srgbClr val="334155"/>
                </a:solidFill>
                <a:latin typeface="Inter"/>
              </a:rPr>
              <a:t> Recommended for production environments.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46201"/>
            <a:ext cx="2600325" cy="1841896"/>
          </a:xfrm>
          <a:prstGeom prst="roundRect">
            <a:avLst>
              <a:gd name="adj" fmla="val 413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0425" y="2946201"/>
            <a:ext cx="2600325" cy="1841896"/>
          </a:xfrm>
          <a:prstGeom prst="roundRect">
            <a:avLst>
              <a:gd name="adj" fmla="val 4137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1250" y="3039516"/>
            <a:ext cx="2600325" cy="1655266"/>
          </a:xfrm>
          <a:prstGeom prst="roundRect">
            <a:avLst>
              <a:gd name="adj" fmla="val 4603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82075" y="3039516"/>
            <a:ext cx="2600325" cy="1655266"/>
          </a:xfrm>
          <a:prstGeom prst="roundRect">
            <a:avLst>
              <a:gd name="adj" fmla="val 4603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3184326"/>
            <a:ext cx="2124075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8550" y="3184326"/>
            <a:ext cx="2124075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75" y="3277641"/>
            <a:ext cx="2124075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20200" y="3277641"/>
            <a:ext cx="2124075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A73E8"/>
                </a:solidFill>
                <a:latin typeface="Inter"/>
              </a:rPr>
              <a:t>NETWORKING PRIMITIVES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953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Essential VPC Building Blocks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1143000"/>
            <a:ext cx="11582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Core components managing traffic flow, security rules, and internal routing.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3527226"/>
            <a:ext cx="278784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Firewall Rules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3803451"/>
            <a:ext cx="2219325" cy="7465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Stateful (0–65535 priority). Default: </a:t>
            </a:r>
            <a:r>
              <a:rPr b="1" sz="1050" i="0" u="none">
                <a:solidFill>
                  <a:srgbClr val="475569"/>
                </a:solidFill>
                <a:latin typeface="Inter"/>
              </a:rPr>
              <a:t>Implied Deny Ingress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&amp; </a:t>
            </a:r>
            <a:r>
              <a:rPr b="1" sz="1050" i="0" u="none">
                <a:solidFill>
                  <a:srgbClr val="475569"/>
                </a:solidFill>
                <a:latin typeface="Inter"/>
              </a:rPr>
              <a:t>Implied Allow Egress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. Applied via target tags.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8550" y="3527226"/>
            <a:ext cx="278784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Routes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8550" y="3803451"/>
            <a:ext cx="2219325" cy="7465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Global routing tables mapping IP destinations to next hops (Default Internet Gateway, Virtual Machines, VPNs).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29375" y="3620541"/>
            <a:ext cx="278784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Internal / External IPs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9375" y="3896766"/>
            <a:ext cx="2219325" cy="559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Internal IPs assigned from subnet CIDR. External IPs (ephemeral or static) for public internet traffic.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20200" y="3620541"/>
            <a:ext cx="278784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Private Google Access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20200" y="3896766"/>
            <a:ext cx="2219325" cy="559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Enables internal VMs without external IPs to reach Google APIs &amp; Cloud Storage securely.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934075"/>
            <a:ext cx="10972800" cy="466725"/>
          </a:xfrm>
          <a:prstGeom prst="roundRect">
            <a:avLst>
              <a:gd name="adj" fmla="val 16326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987129"/>
            <a:ext cx="3505200" cy="1293316"/>
          </a:xfrm>
          <a:prstGeom prst="roundRect">
            <a:avLst>
              <a:gd name="adj" fmla="val 589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43400" y="2987129"/>
            <a:ext cx="3505200" cy="1293316"/>
          </a:xfrm>
          <a:prstGeom prst="roundRect">
            <a:avLst>
              <a:gd name="adj" fmla="val 589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77200" y="2987129"/>
            <a:ext cx="3505200" cy="1293316"/>
          </a:xfrm>
          <a:prstGeom prst="roundRect">
            <a:avLst>
              <a:gd name="adj" fmla="val 589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2987129"/>
            <a:ext cx="38100" cy="1293316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343400" y="2987129"/>
            <a:ext cx="38100" cy="1293316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77200" y="2987129"/>
            <a:ext cx="38100" cy="1293316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9500" y="6124575"/>
            <a:ext cx="114300" cy="1143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A73E8"/>
                </a:solidFill>
                <a:latin typeface="Inter"/>
              </a:rPr>
              <a:t>EXPLANATION &amp; DEEP DIVE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953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Firewall Rule Evaluation &amp; Priority Logic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1143000"/>
            <a:ext cx="11582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How GCP processes firewall rules sequentially based on numerical priority values.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6086475"/>
            <a:ext cx="7258347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Inter"/>
              </a:rPr>
              <a:t>Official Specs:</a:t>
            </a:r>
            <a:r>
              <a:rPr b="0" sz="1050" i="0" u="none">
                <a:solidFill>
                  <a:srgbClr val="334155"/>
                </a:solidFill>
                <a:latin typeface="Inter"/>
              </a:rPr>
              <a:t> Default priority for user rules is </a:t>
            </a:r>
            <a:r>
              <a:rPr b="0" sz="1050" i="0" u="none">
                <a:solidFill>
                  <a:srgbClr val="334155"/>
                </a:solidFill>
                <a:latin typeface="Inter"/>
              </a:rPr>
              <a:t>1000</a:t>
            </a:r>
            <a:r>
              <a:rPr b="0" sz="1050" i="0" u="none">
                <a:solidFill>
                  <a:srgbClr val="334155"/>
                </a:solidFill>
                <a:latin typeface="Inter"/>
              </a:rPr>
              <a:t>. Predefined rules occupy priority </a:t>
            </a:r>
            <a:r>
              <a:rPr b="0" sz="1050" i="0" u="none">
                <a:solidFill>
                  <a:srgbClr val="334155"/>
                </a:solidFill>
                <a:latin typeface="Inter"/>
              </a:rPr>
              <a:t>65535</a:t>
            </a:r>
            <a:r>
              <a:rPr b="0" sz="1050" i="0" u="none">
                <a:solidFill>
                  <a:srgbClr val="334155"/>
                </a:solidFill>
                <a:latin typeface="Inter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4975" y="6086475"/>
            <a:ext cx="2536031" cy="161925"/>
          </a:xfrm>
          <a:prstGeom prst="rect">
            <a:avLst/>
          </a:prstGeom>
          <a:noFill/>
        </p:spPr>
        <p:txBody>
          <a:bodyPr wrap="none" lIns="11430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A73E8"/>
                </a:solidFill>
                <a:latin typeface="Inter"/>
              </a:rPr>
              <a:t>GCP Firewall Documentation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6300" y="3215729"/>
            <a:ext cx="395049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1. Priority Integer Range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6300" y="3491954"/>
            <a:ext cx="3105150" cy="559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Rules evaluate from </a:t>
            </a:r>
            <a:r>
              <a:rPr b="1" sz="1050" i="0" u="none">
                <a:solidFill>
                  <a:srgbClr val="475569"/>
                </a:solidFill>
                <a:latin typeface="Inter"/>
              </a:rPr>
              <a:t>0 (highest) to 65535 (lowest)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. First matching rule applies immediately.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0100" y="3215729"/>
            <a:ext cx="3950493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2. Stateful Rule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0100" y="3491954"/>
            <a:ext cx="3105150" cy="559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Return traffic automatically allowed. Once ingress is allowed, response egress requires no additional rule.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3900" y="3215729"/>
            <a:ext cx="38481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3. Target Selectors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3900" y="3491954"/>
            <a:ext cx="3105150" cy="559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Rules scope by </a:t>
            </a:r>
            <a:r>
              <a:rPr b="1" sz="1050" i="0" u="none">
                <a:solidFill>
                  <a:srgbClr val="475569"/>
                </a:solidFill>
                <a:latin typeface="Inter"/>
              </a:rPr>
              <a:t>Network Tags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, </a:t>
            </a:r>
            <a:r>
              <a:rPr b="1" sz="1050" i="0" u="none">
                <a:solidFill>
                  <a:srgbClr val="475569"/>
                </a:solidFill>
                <a:latin typeface="Inter"/>
              </a:rPr>
              <a:t>Service Accounts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, or </a:t>
            </a:r>
            <a:r>
              <a:rPr b="1" sz="1050" i="0" u="none">
                <a:solidFill>
                  <a:srgbClr val="475569"/>
                </a:solidFill>
                <a:latin typeface="Inter"/>
              </a:rPr>
              <a:t>All Instances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within the VPC network.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47962"/>
            <a:ext cx="5334000" cy="2238375"/>
          </a:xfrm>
          <a:prstGeom prst="roundRect">
            <a:avLst>
              <a:gd name="adj" fmla="val 510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747962"/>
            <a:ext cx="5334000" cy="2238375"/>
          </a:xfrm>
          <a:prstGeom prst="roundRect">
            <a:avLst>
              <a:gd name="adj" fmla="val 510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2747962"/>
            <a:ext cx="5334000" cy="381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48400" y="2747962"/>
            <a:ext cx="5334000" cy="381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A73E8"/>
                </a:solidFill>
                <a:latin typeface="Inter"/>
              </a:rPr>
              <a:t>ENTERPRISE TOPOLOGIES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953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Shared VPC vs. VPC Network Peering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1143000"/>
            <a:ext cx="11582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Connecting projects and centralizing network administration.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90862"/>
            <a:ext cx="620077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Shared VPC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52812"/>
            <a:ext cx="48196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Centralizes network administration while delegating resource administration.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3200" y="3090862"/>
            <a:ext cx="56388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VPC Network Peering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3200" y="3452812"/>
            <a:ext cx="481965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475569"/>
                </a:solidFill>
                <a:latin typeface="Inter"/>
              </a:rPr>
              <a:t>Links two distinct VPC networks privately across projects or organizations.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005262"/>
            <a:ext cx="59055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Inter"/>
              </a:rPr>
              <a:t>Host Project:</a:t>
            </a:r>
            <a:r>
              <a:rPr b="0" sz="1050" i="0" u="none">
                <a:solidFill>
                  <a:srgbClr val="334155"/>
                </a:solidFill>
                <a:latin typeface="Inter"/>
              </a:rPr>
              <a:t> Owns the VPC and subnets.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262437"/>
            <a:ext cx="59055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Inter"/>
              </a:rPr>
              <a:t>Service Projects:</a:t>
            </a:r>
            <a:r>
              <a:rPr b="0" sz="1050" i="0" u="none">
                <a:solidFill>
                  <a:srgbClr val="334155"/>
                </a:solidFill>
                <a:latin typeface="Inter"/>
              </a:rPr>
              <a:t> Attach VMs to shared subnets.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519612"/>
            <a:ext cx="59055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Inter"/>
              </a:rPr>
              <a:t>Best for:</a:t>
            </a:r>
            <a:r>
              <a:rPr b="0" sz="1050" i="0" u="none">
                <a:solidFill>
                  <a:srgbClr val="334155"/>
                </a:solidFill>
                <a:latin typeface="Inter"/>
              </a:rPr>
              <a:t> Central network team governance.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3200" y="4005262"/>
            <a:ext cx="56388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Inter"/>
              </a:rPr>
              <a:t>Direct Traffic:</a:t>
            </a:r>
            <a:r>
              <a:rPr b="0" sz="1050" i="0" u="none">
                <a:solidFill>
                  <a:srgbClr val="334155"/>
                </a:solidFill>
                <a:latin typeface="Inter"/>
              </a:rPr>
              <a:t> Uses Google private backbone.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3200" y="4262437"/>
            <a:ext cx="56388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Inter"/>
              </a:rPr>
              <a:t>Non-Transitive:</a:t>
            </a:r>
            <a:r>
              <a:rPr b="0" sz="1050" i="0" u="none">
                <a:solidFill>
                  <a:srgbClr val="334155"/>
                </a:solidFill>
                <a:latin typeface="Inter"/>
              </a:rPr>
              <a:t> Peering relationship does not extend.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3200" y="4519612"/>
            <a:ext cx="56388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34155"/>
                </a:solidFill>
                <a:latin typeface="Inter"/>
              </a:rPr>
              <a:t>Best for:</a:t>
            </a:r>
            <a:r>
              <a:rPr b="0" sz="1050" i="0" u="none">
                <a:solidFill>
                  <a:srgbClr val="334155"/>
                </a:solidFill>
                <a:latin typeface="Inter"/>
              </a:rPr>
              <a:t> Decentralized multi-tenant connectivity.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47987"/>
            <a:ext cx="5353050" cy="1838325"/>
          </a:xfrm>
          <a:prstGeom prst="roundRect">
            <a:avLst>
              <a:gd name="adj" fmla="val 62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29350" y="2947987"/>
            <a:ext cx="5353050" cy="1838325"/>
          </a:xfrm>
          <a:prstGeom prst="roundRect">
            <a:avLst>
              <a:gd name="adj" fmla="val 62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224212"/>
            <a:ext cx="285750" cy="228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3125" y="4386262"/>
            <a:ext cx="104775" cy="1047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5575" y="3224212"/>
            <a:ext cx="285750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1925" y="4386262"/>
            <a:ext cx="104775" cy="10477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A73E8"/>
                </a:solidFill>
                <a:latin typeface="Inter"/>
              </a:rPr>
              <a:t>EXPLANATION &amp; DEEP DIVE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953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Secure Outbound Connectivity Options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1143000"/>
            <a:ext cx="11582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Connecting internal instances without public IP addresses to external endpoints.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3567112"/>
            <a:ext cx="60007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75569"/>
                </a:solidFill>
                <a:latin typeface="Inter"/>
              </a:rPr>
              <a:t>Destination: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Google APIs &amp; Services (Cloud Storage, BigQuery).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3843337"/>
            <a:ext cx="48958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75569"/>
                </a:solidFill>
                <a:latin typeface="Inter"/>
              </a:rPr>
              <a:t>Mechanism: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Enabled per-subnet; routes internal traffic directly to Google VIPs.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4348162"/>
            <a:ext cx="1702593" cy="152400"/>
          </a:xfrm>
          <a:prstGeom prst="rect">
            <a:avLst/>
          </a:prstGeom>
          <a:noFill/>
        </p:spPr>
        <p:txBody>
          <a:bodyPr wrap="none" lIns="104775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A73E8"/>
                </a:solidFill>
                <a:latin typeface="Inter"/>
              </a:rPr>
              <a:t>Private Access Docs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05575" y="3567112"/>
            <a:ext cx="568642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75569"/>
                </a:solidFill>
                <a:latin typeface="Inter"/>
              </a:rPr>
              <a:t>Destination: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General Public Internet (OS patches, external APIs).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5575" y="3843337"/>
            <a:ext cx="48958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475569"/>
                </a:solidFill>
                <a:latin typeface="Inter"/>
              </a:rPr>
              <a:t>Mechanism: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Managed regional software-defined NAT (no proxy VM bottlenecks).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5575" y="4348162"/>
            <a:ext cx="1726406" cy="152400"/>
          </a:xfrm>
          <a:prstGeom prst="rect">
            <a:avLst/>
          </a:prstGeom>
          <a:noFill/>
        </p:spPr>
        <p:txBody>
          <a:bodyPr wrap="none" lIns="104775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A73E8"/>
                </a:solidFill>
                <a:latin typeface="Inter"/>
              </a:rPr>
              <a:t>Cloud NAT Overview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5875" y="3224212"/>
            <a:ext cx="276284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Private Google Access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5625" y="3224212"/>
            <a:ext cx="2437804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Cloud NAT Gateway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19387"/>
            <a:ext cx="10972800" cy="1666875"/>
          </a:xfrm>
          <a:prstGeom prst="roundRect">
            <a:avLst>
              <a:gd name="adj" fmla="val 685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5772150"/>
            <a:ext cx="10972800" cy="62865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5772150"/>
            <a:ext cx="38100" cy="62865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23925" y="3586162"/>
            <a:ext cx="3346400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422725" y="3586162"/>
            <a:ext cx="3346400" cy="523875"/>
          </a:xfrm>
          <a:prstGeom prst="roundRect">
            <a:avLst>
              <a:gd name="adj" fmla="val 14545"/>
            </a:avLst>
          </a:prstGeom>
          <a:solidFill>
            <a:srgbClr val="F0FDF4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921525" y="3586162"/>
            <a:ext cx="3346400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A73E8"/>
                </a:solidFill>
                <a:latin typeface="Inter"/>
              </a:rPr>
              <a:t>KNOWLEDGE CHECK 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953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VPC Network Topologies &amp; Governance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1143000"/>
            <a:ext cx="11582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Test your understanding of enterprise GCP networking decisions.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2995612"/>
            <a:ext cx="104394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Scenario: An organization needs central network administration and unified subnets while delegating VM instance management to separate project teams. Which design should you recommend?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5924550"/>
            <a:ext cx="1057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E40AF"/>
                </a:solidFill>
                <a:latin typeface="Inter"/>
              </a:rPr>
              <a:t>ACE Exam Rationale:</a:t>
            </a:r>
            <a:r>
              <a:rPr b="0" sz="1050" i="0" u="none">
                <a:solidFill>
                  <a:srgbClr val="1E40AF"/>
                </a:solidFill>
                <a:latin typeface="Inter"/>
              </a:rPr>
              <a:t> </a:t>
            </a:r>
            <a:r>
              <a:rPr b="1" sz="1050" i="0" u="none">
                <a:solidFill>
                  <a:srgbClr val="1E40AF"/>
                </a:solidFill>
                <a:latin typeface="Inter"/>
              </a:rPr>
              <a:t>Shared VPC</a:t>
            </a:r>
            <a:r>
              <a:rPr b="0" sz="1050" i="0" u="none">
                <a:solidFill>
                  <a:srgbClr val="1E40AF"/>
                </a:solidFill>
                <a:latin typeface="Inter"/>
              </a:rPr>
              <a:t> allows a Host Project to centralize subnet and firewall administration while Service Projects instantiate VMs. VPC Peering links separate administrative domains.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475" y="3757612"/>
            <a:ext cx="36591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Inter"/>
              </a:rPr>
              <a:t>A. VPC Network Peering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2275" y="3757612"/>
            <a:ext cx="36591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5803D"/>
                </a:solidFill>
                <a:latin typeface="Inter"/>
              </a:rPr>
              <a:t>B. Shared VPC Network 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1075" y="3757612"/>
            <a:ext cx="36591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Inter"/>
              </a:rPr>
              <a:t>C. Cloud VPN Mesh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6019800"/>
            <a:ext cx="10972800" cy="38100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1409700"/>
            <a:ext cx="5391150" cy="4457700"/>
          </a:xfrm>
          <a:prstGeom prst="roundRect">
            <a:avLst>
              <a:gd name="adj" fmla="val 1709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1250" y="1409700"/>
            <a:ext cx="5391150" cy="4457700"/>
          </a:xfrm>
          <a:prstGeom prst="roundRect">
            <a:avLst>
              <a:gd name="adj" fmla="val 1709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600" y="6019800"/>
            <a:ext cx="38100" cy="38100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9625" y="4619625"/>
            <a:ext cx="4991100" cy="1047750"/>
          </a:xfrm>
          <a:prstGeom prst="roundRect">
            <a:avLst>
              <a:gd name="adj" fmla="val 5454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391275" y="4562475"/>
            <a:ext cx="4991100" cy="1104900"/>
          </a:xfrm>
          <a:prstGeom prst="roundRect">
            <a:avLst>
              <a:gd name="adj" fmla="val 5172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9625" y="1609725"/>
            <a:ext cx="619125" cy="20955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391275" y="1609725"/>
            <a:ext cx="638175" cy="20955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A73E8"/>
                </a:solidFill>
                <a:latin typeface="Inter"/>
              </a:rPr>
              <a:t>HANDS-ON LAB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95325"/>
            <a:ext cx="11582400" cy="3429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250" i="0" u="none">
                <a:solidFill>
                  <a:srgbClr val="0F172A"/>
                </a:solidFill>
                <a:latin typeface="Inter"/>
              </a:rPr>
              <a:t>Lab 1: Building Custom VPC &amp; Firewall Rules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1076325"/>
            <a:ext cx="115824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Inter"/>
              </a:rPr>
              <a:t>Step-by-step guide to provisioning enterprise custom networking via Cloud Shell.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6134100"/>
            <a:ext cx="113538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E40AF"/>
                </a:solidFill>
                <a:latin typeface="Inter"/>
              </a:rPr>
              <a:t>Verification Tip:</a:t>
            </a:r>
            <a:r>
              <a:rPr b="0" sz="975" i="0" u="none">
                <a:solidFill>
                  <a:srgbClr val="1E40AF"/>
                </a:solidFill>
                <a:latin typeface="Inter"/>
              </a:rPr>
              <a:t> Run </a:t>
            </a:r>
            <a:r>
              <a:rPr b="0" sz="975" i="0" u="none">
                <a:solidFill>
                  <a:srgbClr val="1E40AF"/>
                </a:solidFill>
                <a:latin typeface="Inter"/>
              </a:rPr>
              <a:t>gcloud compute firewall-rules list --filter="network=prod-vpc"</a:t>
            </a:r>
            <a:r>
              <a:rPr b="0" sz="975" i="0" u="none">
                <a:solidFill>
                  <a:srgbClr val="1E40AF"/>
                </a:solidFill>
                <a:latin typeface="Inter"/>
              </a:rPr>
              <a:t> to confirm rule priority and target tags.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4875" y="1638300"/>
            <a:ext cx="52387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A73E8"/>
                </a:solidFill>
                <a:latin typeface="Inter"/>
              </a:rPr>
              <a:t>TASK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625" y="1895475"/>
            <a:ext cx="6550818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Create Custom VPC &amp; Subnet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625" y="2143125"/>
            <a:ext cx="623887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75569"/>
                </a:solidFill>
                <a:latin typeface="Inter"/>
              </a:rPr>
              <a:t>Disable auto-subnets and allocate explicit CIDR blocks.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925" y="4733925"/>
            <a:ext cx="5953125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monospace"/>
              </a:rPr>
              <a:t># 1. Create Custom VPC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925" y="4905375"/>
            <a:ext cx="5953125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38BDF8"/>
                </a:solidFill>
                <a:latin typeface="monospace"/>
              </a:rPr>
              <a:t>gcloud compute networks create prod-vpc --subnet-mode=custom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925" y="5114925"/>
            <a:ext cx="5953125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monospace"/>
              </a:rPr>
              <a:t># 2. Add Regional Subnet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925" y="5286375"/>
            <a:ext cx="48577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38BDF8"/>
                </a:solidFill>
                <a:latin typeface="monospace"/>
              </a:rPr>
              <a:t>gcloud compute networks subnets create us-prod-subnet --network=prod-vpc --region=us-central1 --range=10.10.1.0/24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6525" y="1638300"/>
            <a:ext cx="542925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16A34A"/>
                </a:solidFill>
                <a:latin typeface="Inter"/>
              </a:rPr>
              <a:t>TASK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91275" y="1895475"/>
            <a:ext cx="580072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Create Ingress Firewall Rule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1275" y="2143125"/>
            <a:ext cx="58007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475569"/>
                </a:solidFill>
                <a:latin typeface="Inter"/>
              </a:rPr>
              <a:t>Allow SSH (TCP 22) and ICMP ping for tagged instances.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05575" y="4676775"/>
            <a:ext cx="5686425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94A3B8"/>
                </a:solidFill>
                <a:latin typeface="monospace"/>
              </a:rPr>
              <a:t># 3. Configure Firewall Rule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05575" y="4848225"/>
            <a:ext cx="5686425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38BDF8"/>
                </a:solidFill>
                <a:latin typeface="monospace"/>
              </a:rPr>
              <a:t>gcloud compute firewall-rules create allow-ssh-icmp \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05575" y="5038725"/>
            <a:ext cx="5686425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38BDF8"/>
                </a:solidFill>
                <a:latin typeface="monospace"/>
              </a:rPr>
              <a:t>  --network=prod-vpc \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05575" y="5229225"/>
            <a:ext cx="5686425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38BDF8"/>
                </a:solidFill>
                <a:latin typeface="monospace"/>
              </a:rPr>
              <a:t>  --allow=tcp:22,icmp \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05575" y="5419725"/>
            <a:ext cx="5686425" cy="1333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00" i="0" u="none">
                <a:solidFill>
                  <a:srgbClr val="38BDF8"/>
                </a:solidFill>
                <a:latin typeface="monospace"/>
              </a:rPr>
              <a:t>  --target-tags=web-server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805041" y="2857500"/>
            <a:ext cx="2812405" cy="933450"/>
          </a:xfrm>
          <a:prstGeom prst="roundRect">
            <a:avLst>
              <a:gd name="adj" fmla="val 816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769846" y="2857500"/>
            <a:ext cx="2812553" cy="933450"/>
          </a:xfrm>
          <a:prstGeom prst="roundRect">
            <a:avLst>
              <a:gd name="adj" fmla="val 816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805041" y="3943350"/>
            <a:ext cx="2812405" cy="933450"/>
          </a:xfrm>
          <a:prstGeom prst="roundRect">
            <a:avLst>
              <a:gd name="adj" fmla="val 816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769846" y="3943350"/>
            <a:ext cx="2812553" cy="933450"/>
          </a:xfrm>
          <a:prstGeom prst="roundRect">
            <a:avLst>
              <a:gd name="adj" fmla="val 8163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343150"/>
            <a:ext cx="4814441" cy="304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A73E8"/>
                </a:solidFill>
                <a:latin typeface="Inter"/>
              </a:rPr>
              <a:t>COMPUTE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953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Virtual Machine Infrastructure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143000"/>
            <a:ext cx="11582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High-performance compute instances with flexible machine types.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95541" y="3048000"/>
            <a:ext cx="3191219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General Purpose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5541" y="3276600"/>
            <a:ext cx="2526655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Balanced price and performance (E2, N2, C3).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0346" y="3048000"/>
            <a:ext cx="3191414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Compute Optimized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0346" y="3276600"/>
            <a:ext cx="2526803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Ultra-high frequency for intensive workloads (C2).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95541" y="4133850"/>
            <a:ext cx="3191219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Memory Optimized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95541" y="4362450"/>
            <a:ext cx="2526655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Massive RAM capacity for SAP HANA &amp; databases (M3).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0346" y="4133850"/>
            <a:ext cx="3191414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F172A"/>
                </a:solidFill>
                <a:latin typeface="Inter"/>
              </a:rPr>
              <a:t>Accelerated (GPU)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0346" y="4362450"/>
            <a:ext cx="2526803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NVIDIA GPUs for AI/ML and rendering (A2, G2).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934075"/>
            <a:ext cx="10972800" cy="466725"/>
          </a:xfrm>
          <a:prstGeom prst="roundRect">
            <a:avLst>
              <a:gd name="adj" fmla="val 16326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806154"/>
            <a:ext cx="3530649" cy="1655266"/>
          </a:xfrm>
          <a:prstGeom prst="roundRect">
            <a:avLst>
              <a:gd name="adj" fmla="val 4603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330749" y="2806154"/>
            <a:ext cx="3530649" cy="1655266"/>
          </a:xfrm>
          <a:prstGeom prst="roundRect">
            <a:avLst>
              <a:gd name="adj" fmla="val 4603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051899" y="2899469"/>
            <a:ext cx="3530649" cy="1468635"/>
          </a:xfrm>
          <a:prstGeom prst="roundRect">
            <a:avLst>
              <a:gd name="adj" fmla="val 5188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3044279"/>
            <a:ext cx="3054399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8874" y="3044279"/>
            <a:ext cx="3054399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0024" y="3137594"/>
            <a:ext cx="3054399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39500" y="6124575"/>
            <a:ext cx="114300" cy="1143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A73E8"/>
                </a:solidFill>
                <a:latin typeface="Inter"/>
              </a:rPr>
              <a:t>EXPLANATION &amp; DEEP DIVE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953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VM Disk &amp; Storage Architecture Selection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1143000"/>
            <a:ext cx="11582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Matching storage performance, persistence, and redundancy requirements.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6086475"/>
            <a:ext cx="831112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E40AF"/>
                </a:solidFill>
                <a:latin typeface="Inter"/>
              </a:rPr>
              <a:t>Design Tip:</a:t>
            </a:r>
            <a:r>
              <a:rPr b="0" sz="1050" i="0" u="none">
                <a:solidFill>
                  <a:srgbClr val="1E40AF"/>
                </a:solidFill>
                <a:latin typeface="Inter"/>
              </a:rPr>
              <a:t> Always use </a:t>
            </a:r>
            <a:r>
              <a:rPr b="0" sz="1050" i="0" u="none">
                <a:solidFill>
                  <a:srgbClr val="1E40AF"/>
                </a:solidFill>
                <a:latin typeface="Inter"/>
              </a:rPr>
              <a:t>Persistent Disk Snapshots</a:t>
            </a:r>
            <a:r>
              <a:rPr b="0" sz="1050" i="0" u="none">
                <a:solidFill>
                  <a:srgbClr val="1E40AF"/>
                </a:solidFill>
                <a:latin typeface="Inter"/>
              </a:rPr>
              <a:t> for point-in-time backup &amp; cross-region recovery.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34575" y="6086475"/>
            <a:ext cx="1774031" cy="161925"/>
          </a:xfrm>
          <a:prstGeom prst="rect">
            <a:avLst/>
          </a:prstGeom>
          <a:noFill/>
        </p:spPr>
        <p:txBody>
          <a:bodyPr wrap="none" lIns="11430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A73E8"/>
                </a:solidFill>
                <a:latin typeface="Inter"/>
              </a:rPr>
              <a:t>Disk Options Guide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725" y="3387179"/>
            <a:ext cx="400889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Persistent Disk (PD)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725" y="3663404"/>
            <a:ext cx="3149649" cy="559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Durable network storage independent of VM life cycle. Standard, Balanced, SSD, and Extreme tiers.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8874" y="3387179"/>
            <a:ext cx="400889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Local SSD (NVMe)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8874" y="3663404"/>
            <a:ext cx="3149649" cy="559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Physically attached to host. Ultra-high IOPS / sub-ms latency. </a:t>
            </a:r>
            <a:r>
              <a:rPr b="1" sz="1050" i="0" u="none">
                <a:solidFill>
                  <a:srgbClr val="475569"/>
                </a:solidFill>
                <a:latin typeface="Inter"/>
              </a:rPr>
              <a:t>Ephemeral</a:t>
            </a:r>
            <a:r>
              <a:rPr b="0" sz="1050" i="0" u="none">
                <a:solidFill>
                  <a:srgbClr val="475569"/>
                </a:solidFill>
                <a:latin typeface="Inter"/>
              </a:rPr>
              <a:t> (lost on instance stop).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0024" y="3480494"/>
            <a:ext cx="39019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Regional PD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0024" y="3756719"/>
            <a:ext cx="3149649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Synchronous block-level replication across two zones for High Availability (HA) failover.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52775"/>
            <a:ext cx="2386012" cy="142875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71862" y="3152775"/>
            <a:ext cx="2386012" cy="142875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334125" y="3152775"/>
            <a:ext cx="2386012" cy="142875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96387" y="3152775"/>
            <a:ext cx="2386012" cy="142875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473993" y="3390900"/>
            <a:ext cx="657225" cy="238125"/>
          </a:xfrm>
          <a:prstGeom prst="roundRect">
            <a:avLst>
              <a:gd name="adj" fmla="val 48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21968" y="3390900"/>
            <a:ext cx="685800" cy="238125"/>
          </a:xfrm>
          <a:prstGeom prst="roundRect">
            <a:avLst>
              <a:gd name="adj" fmla="val 48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84231" y="3390900"/>
            <a:ext cx="685800" cy="238125"/>
          </a:xfrm>
          <a:prstGeom prst="roundRect">
            <a:avLst>
              <a:gd name="adj" fmla="val 48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041731" y="3390900"/>
            <a:ext cx="695325" cy="238125"/>
          </a:xfrm>
          <a:prstGeom prst="roundRect">
            <a:avLst>
              <a:gd name="adj" fmla="val 48000"/>
            </a:avLst>
          </a:prstGeom>
          <a:solidFill>
            <a:srgbClr val="E0E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8012" y="3771900"/>
            <a:ext cx="171450" cy="1905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0275" y="3771900"/>
            <a:ext cx="171450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2537" y="3771900"/>
            <a:ext cx="171450" cy="190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A73E8"/>
                </a:solidFill>
                <a:latin typeface="Inter"/>
              </a:rPr>
              <a:t>VM LIFECYCLE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600" y="6953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Provisioning, Operations &amp; Maintenance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1143000"/>
            <a:ext cx="11582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Automated orchestration and seamless maintenance without downtime.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45418" y="3429000"/>
            <a:ext cx="71437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1A73E8"/>
                </a:solidFill>
                <a:latin typeface="Inter"/>
              </a:rPr>
              <a:t>STEP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9312" y="3743325"/>
            <a:ext cx="270658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Inter"/>
              </a:rPr>
              <a:t>Provision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3754" y="4019550"/>
            <a:ext cx="2577703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475569"/>
                </a:solidFill>
                <a:latin typeface="Inter"/>
              </a:rPr>
              <a:t>Select machine type, boot disk, and service account.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3393" y="3429000"/>
            <a:ext cx="7429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1A73E8"/>
                </a:solidFill>
                <a:latin typeface="Inter"/>
              </a:rPr>
              <a:t>STEP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11574" y="3743325"/>
            <a:ext cx="270658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Inter"/>
              </a:rPr>
              <a:t>Run &amp; SSH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76017" y="4019550"/>
            <a:ext cx="2577703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475569"/>
                </a:solidFill>
                <a:latin typeface="Inter"/>
              </a:rPr>
              <a:t>Connect securely via OS Login or Cloud IAP.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5656" y="3429000"/>
            <a:ext cx="7429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1A73E8"/>
                </a:solidFill>
                <a:latin typeface="Inter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73837" y="3743325"/>
            <a:ext cx="270658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Inter"/>
              </a:rPr>
              <a:t>Live Migration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38279" y="4019550"/>
            <a:ext cx="2577703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475569"/>
                </a:solidFill>
                <a:latin typeface="Inter"/>
              </a:rPr>
              <a:t>Google shifts VMs during host maintenance seamlessly.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13156" y="3429000"/>
            <a:ext cx="752475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1A73E8"/>
                </a:solidFill>
                <a:latin typeface="Inter"/>
              </a:rPr>
              <a:t>STEP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36099" y="3743325"/>
            <a:ext cx="270658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Inter"/>
              </a:rPr>
              <a:t>Auto-Scale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00542" y="4019550"/>
            <a:ext cx="2577703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475569"/>
                </a:solidFill>
                <a:latin typeface="Inter"/>
              </a:rPr>
              <a:t>Managed Instance Groups (MIGs) adjust capacity.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524000"/>
            <a:ext cx="10972800" cy="4686300"/>
          </a:xfrm>
          <a:prstGeom prst="roundRect">
            <a:avLst>
              <a:gd name="adj" fmla="val 2439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A73E8"/>
                </a:solidFill>
                <a:latin typeface="Inter"/>
              </a:rPr>
              <a:t>COMMAND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953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High-Yield `gcloud` CLI Syntax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143000"/>
            <a:ext cx="11582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Essential CLI syntax frequently tested on the Associate Cloud Engineer (ACE) exam.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01775"/>
            <a:ext cx="112776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8BDF8"/>
                </a:solidFill>
                <a:latin typeface="monospace"/>
              </a:rPr>
              <a:t># 1. Create a Custom Mode VPC Network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92275"/>
            <a:ext cx="112776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E2E8F0"/>
                </a:solidFill>
                <a:latin typeface="monospace"/>
              </a:rPr>
              <a:t>gcloud compute networks create demo-vpc --subnet-mode=custom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86026"/>
            <a:ext cx="112776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8BDF8"/>
                </a:solidFill>
                <a:latin typeface="monospace"/>
              </a:rPr>
              <a:t># 2. Add a Regional Subnet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876526"/>
            <a:ext cx="112776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E2E8F0"/>
                </a:solidFill>
                <a:latin typeface="monospace"/>
              </a:rPr>
              <a:t>gcloud compute networks subnets create web-subnet --network=demo-vpc --region=us-central1 --range=10.0.1.0/24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070276"/>
            <a:ext cx="112776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38BDF8"/>
                </a:solidFill>
                <a:latin typeface="monospace"/>
              </a:rPr>
              <a:t># 3. Create a Compute Engine Virtual Machine Instance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260776"/>
            <a:ext cx="112776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E2E8F0"/>
                </a:solidFill>
                <a:latin typeface="monospace"/>
              </a:rPr>
              <a:t>gcloud compute instances create web-vm --zone=us-central1-a --machine-type=e2-medium --subnet=web-subnet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19387"/>
            <a:ext cx="10972800" cy="1666875"/>
          </a:xfrm>
          <a:prstGeom prst="roundRect">
            <a:avLst>
              <a:gd name="adj" fmla="val 685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5772150"/>
            <a:ext cx="10972800" cy="628650"/>
          </a:xfrm>
          <a:prstGeom prst="rect">
            <a:avLst/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5772150"/>
            <a:ext cx="38100" cy="628650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23925" y="3586162"/>
            <a:ext cx="3346400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422725" y="3586162"/>
            <a:ext cx="3346400" cy="523875"/>
          </a:xfrm>
          <a:prstGeom prst="roundRect">
            <a:avLst>
              <a:gd name="adj" fmla="val 14545"/>
            </a:avLst>
          </a:prstGeom>
          <a:solidFill>
            <a:srgbClr val="F0FDF4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921525" y="3586162"/>
            <a:ext cx="3346400" cy="523875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9600" y="457200"/>
            <a:ext cx="115824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A73E8"/>
                </a:solidFill>
                <a:latin typeface="Inter"/>
              </a:rPr>
              <a:t>KNOWLEDGE CHECK 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95325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Compute Engine Maintenance &amp; Operations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1143000"/>
            <a:ext cx="11582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Assess your readiness on VM lifecycle management and infrastructure events.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2995612"/>
            <a:ext cx="104394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Scenario: How does GCP handle planned host hardware maintenance without interrupting running Compute Engine instances?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5924550"/>
            <a:ext cx="1057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1E40AF"/>
                </a:solidFill>
                <a:latin typeface="Inter"/>
              </a:rPr>
              <a:t>ACE Exam Rationale:</a:t>
            </a:r>
            <a:r>
              <a:rPr b="0" sz="1050" i="0" u="none">
                <a:solidFill>
                  <a:srgbClr val="1E40AF"/>
                </a:solidFill>
                <a:latin typeface="Inter"/>
              </a:rPr>
              <a:t> </a:t>
            </a:r>
            <a:r>
              <a:rPr b="1" sz="1050" i="0" u="none">
                <a:solidFill>
                  <a:srgbClr val="1E40AF"/>
                </a:solidFill>
                <a:latin typeface="Inter"/>
              </a:rPr>
              <a:t>Live Migration</a:t>
            </a:r>
            <a:r>
              <a:rPr b="0" sz="1050" i="0" u="none">
                <a:solidFill>
                  <a:srgbClr val="1E40AF"/>
                </a:solidFill>
                <a:latin typeface="Inter"/>
              </a:rPr>
              <a:t> keeps instances running during host infrastructure updates by shifting active VM states to another host without rebooting or downtime.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33475" y="3757612"/>
            <a:ext cx="36591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Inter"/>
              </a:rPr>
              <a:t>A. Automatic VM Restart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2275" y="3757612"/>
            <a:ext cx="36591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15803D"/>
                </a:solidFill>
                <a:latin typeface="Inter"/>
              </a:rPr>
              <a:t>B. Live Migration 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1075" y="3757612"/>
            <a:ext cx="365912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334155"/>
                </a:solidFill>
                <a:latin typeface="Inter"/>
              </a:rPr>
              <a:t>C. MIG Auto-healing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84772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16097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16097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990600"/>
            <a:ext cx="857250" cy="476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762125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571500"/>
            <a:ext cx="2175271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Image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6875" y="1033462"/>
            <a:ext cx="348853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F172A"/>
                </a:solidFill>
                <a:latin typeface="Inter"/>
              </a:rPr>
              <a:t>https://en.pimg.jp/083/358/991/1/83358991.jpg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6875" y="1233487"/>
            <a:ext cx="264318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F172A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www.pixtastock.com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6875" y="1804987"/>
            <a:ext cx="73342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F172A"/>
                </a:solidFill>
                <a:latin typeface="Inter"/>
              </a:rPr>
              <a:t>https://storage.googleapis.com/gweb-cloudblog-publish/images/3_WZEo7he.max-2000x2000.png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6875" y="2005012"/>
            <a:ext cx="239315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F172A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cloud.google.com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